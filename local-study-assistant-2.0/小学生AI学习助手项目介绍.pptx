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notesSlides/notesSlide1.xml" Type="http://schemas.openxmlformats.org/officeDocument/2006/relationships/notesSlide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34" Target="notesSlides/notesSlide13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这是一个面向小学生的Python编程实践项目——“小学生AI学习助手”。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项目采用了离线架构，确保了使用的安全性和便捷性。界面设计活泼可爱，符合小学生的审美，通过对话交互和简单的指令练习，帮助孩子们在轻松愉快的氛围中接触编程思维。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V2.0版本增加了更多游戏化的学习任务和语音交互功能，让AI助手更像一个真实的小伙伴陪伴在孩子身边。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本页是PPT的目录页，采用了浅蓝色和橙色的清新配色方案，营造出科技与活力并存的视觉感受。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页面左侧设置了机器人图标作为视觉锚点，呼应技术主题。目录主体分为两列三行布局，结构清晰，便于观众快速浏览。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每个目录项都配有对应的IconPark图标和简短的描述，帮助观众提前了解各章节的核心内容。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这一页主要介绍了项目的基本情况。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首先，这是一个非常特别的项目，它的开发者是一位正在准备小升初的学生，这体现了项目的纯粹性和学习价值。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项目定位为离线学习助手，功能完整。它有四个非常显著的特点：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纯Python实现：只用了Python标准库，没有使用任何高级框架，代码非常基础且规范。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零外部依赖：这意味着不需要配置复杂的环境，下载就能运行，非常适合新手尝试。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命令行交互：采用了经典的CLI模式，专注于逻辑本身，避开了GUI的复杂性。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4. 模块化设计：代码结构清晰，分成了不同的模块，具有良好的可扩展性。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总的来说，这个项目非常适合编程初学者作为入门参考案例。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这一页主要阐述了项目发起的初衷，我们从三个维度进行了考量：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学习编程实践：这是最直接的目的，将书本上的Python知识转化为实际可用的代码，加深对编程工具的理解。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解决学习需求：项目不仅仅是为了练手，更是为了解决实际问题。我们针对小升初这一关键阶段，开发了适配的学习工具，具有实用价值。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锻炼编程思维：通过完整的项目开发周期，学会如何拆解问题、逻辑分析和调试优化，这是编程能力的核心所在。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这一页展示了我们项目的整体代码结构，采用了清晰的模块化分层设计。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主入口：main.py 作为项目的起点，负责整体的调度和初始化。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配置层：config 目录集中管理所有配置信息，保证配置的统一和安全性。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核心层：core 目录是项目的灵魂，包含了智能对话、作文生成和刷题自测三大核心业务逻辑，各功能模块相互独立。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4. 工具层：utils 目录封装了通用的文件操作工具，避免代码冗余，提升开发效率。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这种架构设计不仅结构清晰，而且易于维护和扩展，符合现代软件工程的最佳实践。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这一页是核心功能的过渡与概览页。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我们的系统主要包含三大核心功能模块：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智能对话交互：利用先进的大语言模型，实现像真人一样的自然对话，能够精准理解用户的问题并提供专业解答。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智能作文生成：针对不同阶段的写作需求，提供从构思、素材到成稿的全方位辅助，帮助用户提升写作能力。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智能刷题自测：通过智能算法分析用户知识薄弱点，推送个性化的练习题目，并自动进行批改和解析，高效巩固知识。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这一页主要展示了产品的核心功能——连续智能对话。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在左侧，我们详细列出了四大功能特点：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精准关键词匹配：系统能快速抓取用户问题的核心，确保回答切题。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海量内置知识库：涵盖了文学、科学、教育等多方面的知识，满足日常需求。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上下文连续交互：这是AI的一大亮点，它能记住上下文，像真人一样进行多轮对话，体验非常流畅。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4. 记录自动保存：所有对话都安全存储，方便用户随时回顾和查找。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右侧是我们可爱的AI机器人形象，下方展示了具体的知识库应用场景，让用户对功能有更直观的感知。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这一页主要介绍了“自动生成小升初作文”的核心功能。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在左侧，我们展示了四大核心特点：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模板式高效生成：提供海量优质模板，覆盖高频话题，让写作不再难。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经典三段式结构：严格遵循“开头、中间、结尾”的标准结构，规范孩子的写作逻辑。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千万级随机组合：利用算法随机抽取语料，确保生成的每一篇文章都独一无二，避免雷同。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4. 聚焦小升初记叙文：专门针对小升初最常考的记叙文题型进行优化，涵盖写人、记事等各类场景。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右侧，我们展示了功能的生成原理：系统通过调用开头、中间、结尾三个独立的句库，随机组合并进行逻辑衔接，从而快速生成一篇结构完整、内容丰富的作文。这种方式不仅能节省时间，还能为孩子提供丰富的写作素材参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这一页主要介绍了系统的“知识刷题自测”功能。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在左侧，我们详细列出了该功能的四大核心优势：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内置了海量的权威语文题库，涵盖了古诗、文言文、现代文学等全面考点。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支持随机打乱出题顺序和选项，避免用户死记硬背，真正考察知识掌握情况。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系统具备自动判分功能，提交即出结果，并附带详细解析，节省了批改时间。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4. 自动记录历次成绩和错题，生成学习轨迹，帮助用户查漏补缺。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右侧的插画展示了用户在系统中进行自测的场景，界面友好，交互便捷，旨在通过沉浸式的体验激发用户的学习动力。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本页介绍了系统的四大核心技术特点：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**Python纯实现**：仅使用标准库，保证了环境兼容性，无需额外安装依赖。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**CLI交互界面**：菜单式操作简洁直观，降低用户上手难度。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**模块化架构**：核心功能分离，代码结构清晰，利于维护。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4. **TXT本地存储**：轻量级、安全、易于备份，满足数据持久化需求。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这一页展示了我们项目的核心亮点，主要体现在代码规范、实用性和扩展性三个方面。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首先是代码规范，我们注重目录结构的清晰和模块职责的划分，这不仅让代码更易读，也方便后续的维护。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其次是实用性，我们的项目是专门针对小学生学习场景设计的，功能非常接地气，能够切实解决学习中的问题。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最后是易于扩展，系统采用模块化设计，无论是增加知识库、题库还是作文模板，都可以轻松实现，为未来的迭代留足了空间。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总体而言，这个项目非常适合编程初学者进行学习和参考。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这一页我们来探讨未来的改进方向，主要分为四个维度：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扩充内容储备：我们将突破现有学科的限制，增加更多领域的知识库和分层级的题库，满足不同用户的学习需求。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升级核心算法：通过引入深度学习技术，优化对话匹配逻辑，让系统更精准地理解用户意图，提供更智能的服务。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丰富创作模板：针对写作场景，我们将提炼更多优质的主题和句式模板，为用户提供丰富的灵感和规范。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4. 焕新图形界面：我们将开发直观、友好的GUI界面，优化操作流程，降低用户的使用门槛，全面提升交互体验。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这四个方向相辅相成，旨在构建一个持续进化的、更完善的智能学习生态。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感谢大家的观看。这是一个针对小学生设计的AI学习助手项目，旨在通过人工智能技术辅助孩子们更高效、更有趣地学习。希望这个项目能给孩子们的成长带来帮助，让我们一起在学习的道路上不断进步！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notesSlides/notesSlide2.xml" Type="http://schemas.openxmlformats.org/officeDocument/2006/relationships/notesSlid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notesSlides/notesSlide3.xml" Type="http://schemas.openxmlformats.org/officeDocument/2006/relationships/notesSlid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12" Target="../notesSlides/notesSlide5.xml" Type="http://schemas.openxmlformats.org/officeDocument/2006/relationships/notesSlid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6.jpeg" Type="http://schemas.openxmlformats.org/officeDocument/2006/relationships/image"/><Relationship Id="rId11" Target="../notesSlides/notesSlide7.xml" Type="http://schemas.openxmlformats.org/officeDocument/2006/relationships/notesSlide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media/image54.png" Type="http://schemas.openxmlformats.org/officeDocument/2006/relationships/image"/><Relationship Id="rId9" Target="../media/image5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3.jpeg" Type="http://schemas.openxmlformats.org/officeDocument/2006/relationships/image"/><Relationship Id="rId11" Target="../notesSlides/notesSlide8.xml" Type="http://schemas.openxmlformats.org/officeDocument/2006/relationships/notesSlid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2.jpeg" Type="http://schemas.openxmlformats.org/officeDocument/2006/relationships/image"/><Relationship Id="rId11" Target="../notesSlides/notesSlide9.xml" Type="http://schemas.openxmlformats.org/officeDocument/2006/relationships/notesSlide"/><Relationship Id="rId2" Target="../media/image64.png" Type="http://schemas.openxmlformats.org/officeDocument/2006/relationships/image"/><Relationship Id="rId3" Target="../media/image65.svg" Type="http://schemas.openxmlformats.org/officeDocument/2006/relationships/image"/><Relationship Id="rId4" Target="../media/image66.png" Type="http://schemas.openxmlformats.org/officeDocument/2006/relationships/image"/><Relationship Id="rId5" Target="../media/image67.svg" Type="http://schemas.openxmlformats.org/officeDocument/2006/relationships/image"/><Relationship Id="rId6" Target="../media/image68.png" Type="http://schemas.openxmlformats.org/officeDocument/2006/relationships/image"/><Relationship Id="rId7" Target="../media/image69.svg" Type="http://schemas.openxmlformats.org/officeDocument/2006/relationships/image"/><Relationship Id="rId8" Target="../media/image70.png" Type="http://schemas.openxmlformats.org/officeDocument/2006/relationships/image"/><Relationship Id="rId9" Target="../media/image7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0.xml" Type="http://schemas.openxmlformats.org/officeDocument/2006/relationships/notesSlid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73.png" Type="http://schemas.openxmlformats.org/officeDocument/2006/relationships/image"/><Relationship Id="rId7" Target="../media/image74.svg" Type="http://schemas.openxmlformats.org/officeDocument/2006/relationships/image"/><Relationship Id="rId8" Target="../media/image75.png" Type="http://schemas.openxmlformats.org/officeDocument/2006/relationships/image"/><Relationship Id="rId9" Target="../media/image7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73.png" Type="http://schemas.openxmlformats.org/officeDocument/2006/relationships/image"/><Relationship Id="rId7" Target="../media/image74.svg" Type="http://schemas.openxmlformats.org/officeDocument/2006/relationships/image"/><Relationship Id="rId8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1.png" Type="http://schemas.openxmlformats.org/officeDocument/2006/relationships/image"/><Relationship Id="rId11" Target="../media/image82.svg" Type="http://schemas.openxmlformats.org/officeDocument/2006/relationships/image"/><Relationship Id="rId12" Target="../notesSlides/notesSlide12.xml" Type="http://schemas.openxmlformats.org/officeDocument/2006/relationships/notesSlide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77.png" Type="http://schemas.openxmlformats.org/officeDocument/2006/relationships/image"/><Relationship Id="rId7" Target="../media/image78.svg" Type="http://schemas.openxmlformats.org/officeDocument/2006/relationships/image"/><Relationship Id="rId8" Target="../media/image79.png" Type="http://schemas.openxmlformats.org/officeDocument/2006/relationships/image"/><Relationship Id="rId9" Target="../media/image8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3.xml" Type="http://schemas.openxmlformats.org/officeDocument/2006/relationships/notesSlide"/><Relationship Id="rId11" Target="../media/image91.png" Type="http://schemas.openxmlformats.org/officeDocument/2006/relationships/image"/><Relationship Id="rId2" Target="../media/image83.png" Type="http://schemas.openxmlformats.org/officeDocument/2006/relationships/image"/><Relationship Id="rId3" Target="../media/image84.svg" Type="http://schemas.openxmlformats.org/officeDocument/2006/relationships/image"/><Relationship Id="rId4" Target="../media/image85.png" Type="http://schemas.openxmlformats.org/officeDocument/2006/relationships/image"/><Relationship Id="rId5" Target="../media/image86.svg" Type="http://schemas.openxmlformats.org/officeDocument/2006/relationships/image"/><Relationship Id="rId6" Target="../media/image87.png" Type="http://schemas.openxmlformats.org/officeDocument/2006/relationships/image"/><Relationship Id="rId7" Target="../media/image88.svg" Type="http://schemas.openxmlformats.org/officeDocument/2006/relationships/image"/><Relationship Id="rId8" Target="../media/image89.png" Type="http://schemas.openxmlformats.org/officeDocument/2006/relationships/image"/><Relationship Id="rId9" Target="../media/image9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BEAFE">
                <a:alpha val="100000"/>
              </a:srgbClr>
            </a:gs>
            <a:gs pos="100000">
              <a:srgbClr val="EFF6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635000" y="-635000"/>
            <a:ext cx="2540000" cy="2540000"/>
          </a:xfrm>
          <a:prstGeom prst="ellipse">
            <a:avLst/>
          </a:prstGeom>
          <a:solidFill>
            <a:srgbClr val="FEF08A">
              <a:alpha val="40000"/>
            </a:srgbClr>
          </a:solidFill>
          <a:ln cmpd="sng" cap="flat">
            <a:solidFill>
              <a:srgbClr val="E5D56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525000" y="4445000"/>
            <a:ext cx="3810000" cy="3810000"/>
          </a:xfrm>
          <a:prstGeom prst="ellipse">
            <a:avLst/>
          </a:prstGeom>
          <a:solidFill>
            <a:srgbClr val="FFEDD5">
              <a:alpha val="50000"/>
            </a:srgbClr>
          </a:solidFill>
          <a:ln cmpd="sng" cap="flat">
            <a:solidFill>
              <a:srgbClr val="E6CBA9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62000" y="1397000"/>
            <a:ext cx="3810000" cy="3810000"/>
          </a:xfrm>
          <a:prstGeom prst="ellipse">
            <a:avLst/>
          </a:prstGeom>
          <a:noFill/>
          <a:ln w="1016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3B82F6">
                <a:alpha val="20000"/>
              </a:srgbClr>
            </a:outerShdw>
          </a:effectLst>
        </p:spPr>
      </p:pic>
      <p:cxnSp>
        <p:nvCxnSpPr>
          <p:cNvPr name="Connector 5" id="5"/>
          <p:cNvCxnSpPr/>
          <p:nvPr/>
        </p:nvCxnSpPr>
        <p:spPr>
          <a:xfrm rot="5388540" flipH="false" flipV="false">
            <a:off x="3429000" y="3422661"/>
            <a:ext cx="381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3B82F6">
                <a:alpha val="3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5715000" y="1778000"/>
            <a:ext cx="609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1E40AF"/>
                </a:solidFill>
                <a:latin typeface="幼圆"/>
                <a:ea typeface="幼圆"/>
                <a:cs typeface="幼圆"/>
                <a:sym typeface="幼圆"/>
              </a:rPr>
              <a:t>小学生AI学习助手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922000" y="1841500"/>
            <a:ext cx="457200" cy="4572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5715000" y="3175000"/>
            <a:ext cx="609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离线学习助手 V2.0 项目介绍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715000" y="4191000"/>
            <a:ext cx="596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842000" y="4318000"/>
            <a:ext cx="571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专为小学生打造的趣味编程启蒙工具，无需网络即可运行。通过交互式对话与游戏化任务，引导孩子们轻松入门Python，让AI成为身边最贴心的学习伙伴。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0" y="6096000"/>
            <a:ext cx="12192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81000" y="6223000"/>
            <a:ext cx="1143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✨ Python编程实践项目 | 寓教于乐 · 探索未来科技 ✨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0F9FF">
                <a:alpha val="100000"/>
              </a:srgbClr>
            </a:gs>
            <a:gs pos="100000">
              <a:srgbClr val="E0F2F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BAE6FD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FFEDD5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5080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" y="1397000"/>
            <a:ext cx="762000" cy="76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09600" y="2286000"/>
            <a:ext cx="2540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mpd="sng" cap="flat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117600" y="2667000"/>
            <a:ext cx="1524000" cy="1524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736600" y="45720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科技驱动创新，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细节铸就品质。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5389257" flipH="false" flipV="false">
            <a:off x="1524000" y="4057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E3A8A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3937000" y="2032000"/>
            <a:ext cx="3746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BAE6F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937000" y="2032000"/>
            <a:ext cx="76200" cy="1333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191000" y="2222500"/>
            <a:ext cx="457200" cy="457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826000" y="2159000"/>
            <a:ext cx="266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01. 项目简介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全方位解析项目背景与初衷，明确核心建设目标与价值定位，奠定项目基调。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937500" y="2032000"/>
            <a:ext cx="3746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BAE6F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37500" y="2032000"/>
            <a:ext cx="76200" cy="1333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191500" y="2222500"/>
            <a:ext cx="457200" cy="4572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826500" y="2159000"/>
            <a:ext cx="266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02. 项目结构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构建清晰的模块化架构体系，展示系统层级关系与数据流转逻辑，确保架构稳健。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937000" y="3619500"/>
            <a:ext cx="3746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BAE6F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937000" y="3619500"/>
            <a:ext cx="76200" cy="1333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191000" y="3810000"/>
            <a:ext cx="457200" cy="4572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4826000" y="3746500"/>
            <a:ext cx="266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03. 核心功能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深度解读关键业务功能模块，聚焦用户核心需求，呈现功能实现的完整闭环。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937500" y="3619500"/>
            <a:ext cx="3746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BAE6F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937500" y="3619500"/>
            <a:ext cx="76200" cy="1333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191500" y="3810000"/>
            <a:ext cx="457200" cy="4572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8826500" y="3746500"/>
            <a:ext cx="266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04. 技术特点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剖析底层技术选型与创新点，展示高性能、高可用的技术支撑体系与实现细节。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937000" y="5143500"/>
            <a:ext cx="3746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BAE6F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3937000" y="5143500"/>
            <a:ext cx="76200" cy="1333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4191000" y="5334000"/>
            <a:ext cx="457200" cy="4572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4826000" y="5270500"/>
            <a:ext cx="266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05. 项目亮点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提炼项目的差异化优势与创新成果，展现产品在行业中的独特竞争力与应用价值。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937500" y="5143500"/>
            <a:ext cx="3746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BAE6F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937500" y="5143500"/>
            <a:ext cx="76200" cy="1333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191500" y="5334000"/>
            <a:ext cx="457200" cy="4572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8826500" y="5270500"/>
            <a:ext cx="266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06. 未来展望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规划项目演进路线与拓展方向，展望技术迭代与业务延伸的广阔发展空间。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0" y="-1270000"/>
            <a:ext cx="5080000" cy="508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0" y="3810000"/>
            <a:ext cx="3810000" cy="3810000"/>
          </a:xfrm>
          <a:prstGeom prst="ellipse">
            <a:avLst/>
          </a:prstGeom>
          <a:solidFill>
            <a:srgbClr val="F59E0B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143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项目简介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06" flipH="false" flipV="false">
            <a:off x="508004" y="13271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E3A8A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508000" y="1778000"/>
            <a:ext cx="660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1778000"/>
            <a:ext cx="76200" cy="1397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1905000"/>
            <a:ext cx="622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这是一个由准备小升初的学生独立编写的 Python 练习项目，旨在将编程知识应用于实际场景。软件定位为功能完整的离线学习助手，集成了基础的学习管理与资料整理功能，是初学者从理论走向实践的典型案例。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" y="3556000"/>
            <a:ext cx="3238500" cy="1714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3746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06500" y="37084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纯 Python 原生实现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278" flipH="false" flipV="false">
            <a:off x="698514" y="43116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98500" y="4445000"/>
            <a:ext cx="2857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不使用复杂框架，完全基于 Python 标准语法与内置函数开发，代码结构清晰，易于阅读和理解。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000500" y="3556000"/>
            <a:ext cx="3238500" cy="1714500"/>
          </a:xfrm>
          <a:prstGeom prst="roundRect">
            <a:avLst>
              <a:gd name="adj" fmla="val 0"/>
            </a:avLst>
          </a:prstGeom>
          <a:solidFill>
            <a:srgbClr val="FFFB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191000" y="37465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699000" y="37084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零外部环境依赖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278" flipH="false" flipV="false">
            <a:off x="4191014" y="43116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59E0B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4191000" y="4445000"/>
            <a:ext cx="2857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无需安装任何第三方库或复杂环境配置，下载即可运行，极大降低了部署和使用的门槛。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8000" y="5397500"/>
            <a:ext cx="3238500" cy="1270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98500" y="5524500"/>
            <a:ext cx="355600" cy="355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206500" y="5524500"/>
            <a:ext cx="2413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轻量命令行交互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98500" y="5969000"/>
            <a:ext cx="2857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采用经典的 CLI 交互模式，专注功能实现，逻辑直观，适合新手理解程序运行流程。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000500" y="5397500"/>
            <a:ext cx="3238500" cy="1270000"/>
          </a:xfrm>
          <a:prstGeom prst="roundRect">
            <a:avLst>
              <a:gd name="adj" fmla="val 0"/>
            </a:avLst>
          </a:prstGeom>
          <a:solidFill>
            <a:srgbClr val="F5F3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191000" y="5524500"/>
            <a:ext cx="355600" cy="3556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4699000" y="5524500"/>
            <a:ext cx="2413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5B21B6"/>
                </a:solidFill>
                <a:latin typeface="Noto Sans SC"/>
                <a:ea typeface="Noto Sans SC"/>
                <a:cs typeface="Noto Sans SC"/>
                <a:sym typeface="Noto Sans SC"/>
              </a:rPr>
              <a:t>高内聚模块化设计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191000" y="5969000"/>
            <a:ext cx="2857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功能按模块拆分，结构层次分明，便于后续功能扩展与代码维护，体现了良好的编程习惯。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5390450" flipH="false" flipV="false">
            <a:off x="5334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BD5E1">
                <a:alpha val="6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8001000" y="2032000"/>
            <a:ext cx="3556000" cy="3302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1E3A8A">
                  <a:alpha val="3000"/>
                </a:srgbClr>
              </a:gs>
              <a:gs pos="100000">
                <a:srgbClr val="3B82F6">
                  <a:alpha val="8000"/>
                </a:srgbClr>
              </a:gs>
            </a:gsLst>
            <a:lin ang="2700000"/>
          </a:gradFill>
          <a:ln w="12700" cmpd="sng" cap="flat">
            <a:solidFill>
              <a:srgbClr val="3B82F6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144000" y="2540000"/>
            <a:ext cx="1270000" cy="12700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8128000" y="41910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学以致用 · 编程初体验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001000" y="5588000"/>
            <a:ext cx="3556000" cy="952500"/>
          </a:xfrm>
          <a:prstGeom prst="roundRect">
            <a:avLst>
              <a:gd name="adj" fmla="val 0"/>
            </a:avLst>
          </a:prstGeom>
          <a:solidFill>
            <a:srgbClr val="1E3A8A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191500" y="5778500"/>
            <a:ext cx="457200" cy="4572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8763000" y="5715000"/>
            <a:ext cx="2667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从简单的语法到完整的软件逻辑，展现了初学者探索编程世界的完整过程。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2286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DBEAFE">
                  <a:alpha val="40000"/>
                </a:srgbClr>
              </a:gs>
              <a:gs pos="100000">
                <a:srgbClr val="F8F9FA">
                  <a:alpha val="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635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为什么做这个项目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587500"/>
            <a:ext cx="1016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413000"/>
            <a:ext cx="3556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413000"/>
            <a:ext cx="3556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27940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28194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学习编程实践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4323" flipH="false" flipV="false">
            <a:off x="762013" y="380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762000" y="4064000"/>
            <a:ext cx="3048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将课堂上抽象的 Python 语法、逻辑控制与数据处理知识，转化为可运行、可交互的实际项目。通过动手编码，真正掌握编程工具的使用，实现从理论知识到落地应用的闭环。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18000" y="2413000"/>
            <a:ext cx="3556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18000" y="2413000"/>
            <a:ext cx="3556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27940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334000" y="28194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解决学习需求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4323" flipH="false" flipV="false">
            <a:off x="4572013" y="380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4572000" y="4064000"/>
            <a:ext cx="3048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精准聚焦小升初衔接阶段的学习痛点，开发适配该年龄段认知水平的实用学习工具。无论是知识梳理、习题辅助还是能力自测，都旨在为用户提供切实可行的学习支持方案。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2413000"/>
            <a:ext cx="3556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0" y="2413000"/>
            <a:ext cx="35560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794000"/>
            <a:ext cx="609600" cy="609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9144000" y="28194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锻炼编程思维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4323" flipH="false" flipV="false">
            <a:off x="8382013" y="380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8382000" y="4064000"/>
            <a:ext cx="3048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在从需求分析、功能设计到代码实现、调试优化的全流程中，培养逻辑分析与问题拆解能力。学会用程序员的视角观察问题，建立系统化、工程化的解决思路，提升核心思维素养。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项目结构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06" flipH="false" flipV="false">
            <a:off x="508004" y="1136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508000" y="1524000"/>
            <a:ext cx="7112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524000"/>
            <a:ext cx="76200" cy="1016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7145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651000"/>
            <a:ext cx="584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main.py</a:t>
            </a: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— 项目主程序入口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负责项目的初始化、模块调度与全局流程控制，是整个应用的启动枢纽，连接配置、核心逻辑与工具层。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" y="2921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" y="2921000"/>
            <a:ext cx="76200" cy="1651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3111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33500" y="3048000"/>
            <a:ext cx="2413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config/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包含 settings.py 核心配置文件，集中管理应用的参数、密钥及环境变量，实现配置与业务逻辑分离。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191000" y="2921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191000" y="2921000"/>
            <a:ext cx="76200" cy="1651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445000" y="3111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016500" y="3048000"/>
            <a:ext cx="2413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utils/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提供通用的 file_tool.py 文件操作工具类，封装了文件读写、路径处理等底层功能，供各业务模块复用。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08000" y="4826000"/>
            <a:ext cx="7112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8000" y="4826000"/>
            <a:ext cx="76200" cy="15240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62000" y="5016500"/>
            <a:ext cx="457200" cy="4572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397000" y="4953000"/>
            <a:ext cx="596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core/ — 核心业务逻辑层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包含 nlp_match.py (智能对话匹配引擎)、essay_generator.py (作文自动生成核心算法)、question_quiz.py (智能刷题与测评系统)。这是系统的核心大脑，实现了所有关键业务功能。</a:t>
            </a:r>
          </a:p>
        </p:txBody>
      </p:sp>
      <p:cxnSp>
        <p:nvCxnSpPr>
          <p:cNvPr name="Connector 20" id="20"/>
          <p:cNvCxnSpPr/>
          <p:nvPr/>
        </p:nvCxnSpPr>
        <p:spPr>
          <a:xfrm rot="5390953" flipH="false" flipV="false">
            <a:off x="5588000" y="3930658"/>
            <a:ext cx="482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255000" y="1524000"/>
            <a:ext cx="34290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207500" y="1905000"/>
            <a:ext cx="1524000" cy="15240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8382000" y="3810000"/>
            <a:ext cx="317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模块化分层架构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16370" flipH="false" flipV="false">
            <a:off x="8636015" y="4692650"/>
            <a:ext cx="2667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3B82F6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8382000" y="4953000"/>
            <a:ext cx="3175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采用高内聚、低耦合的设计原则，将系统拆解为主入口、配置、核心逻辑与工具四层。结构清晰，不仅便于开发维护，也为后续功能扩展和模块复用提供了良好的基础。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FF6FF">
                <a:alpha val="100000"/>
              </a:srgbClr>
            </a:gs>
            <a:gs pos="100000">
              <a:srgbClr val="DBEAF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3810000" cy="3810000"/>
          </a:xfrm>
          <a:prstGeom prst="ellipse">
            <a:avLst/>
          </a:prstGeom>
          <a:solidFill>
            <a:srgbClr val="3B82F6">
              <a:alpha val="10000"/>
            </a:srgbClr>
          </a:solidFill>
          <a:ln cmpd="sng" cap="flat">
            <a:solidFill>
              <a:srgbClr val="1F67DD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0" y="4445000"/>
            <a:ext cx="5080000" cy="5080000"/>
          </a:xfrm>
          <a:prstGeom prst="ellipse">
            <a:avLst/>
          </a:prstGeom>
          <a:solidFill>
            <a:srgbClr val="10B981">
              <a:alpha val="8000"/>
            </a:srgbClr>
          </a:solidFill>
          <a:ln cmpd="sng" cap="flat">
            <a:solidFill>
              <a:srgbClr val="00A06B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795000" y="1016000"/>
            <a:ext cx="254000" cy="254000"/>
          </a:xfrm>
          <a:prstGeom prst="star5">
            <a:avLst/>
          </a:prstGeom>
          <a:solidFill>
            <a:srgbClr val="F59E0B">
              <a:alpha val="40000"/>
            </a:srgbClr>
          </a:solidFill>
          <a:ln cmpd="sng" cap="flat">
            <a:solidFill>
              <a:srgbClr val="DC8A0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5715000"/>
            <a:ext cx="190500" cy="190500"/>
          </a:xfrm>
          <a:prstGeom prst="star4">
            <a:avLst/>
          </a:prstGeom>
          <a:solidFill>
            <a:srgbClr val="8B5CF6">
              <a:alpha val="40000"/>
            </a:srgbClr>
          </a:solidFill>
          <a:ln cmpd="sng" cap="flat">
            <a:solidFill>
              <a:srgbClr val="6D3CDD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1016000"/>
            <a:ext cx="1092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三大核心功能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" y="2159000"/>
            <a:ext cx="1092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智能对话 · 作文生成 · 刷题自测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34376" flipH="false" flipV="false">
            <a:off x="5461032" y="3041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3B82F6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889000" y="3810000"/>
            <a:ext cx="3302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3810000"/>
            <a:ext cx="3302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143000" y="41275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905000" y="41656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智能对话交互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5626" flipH="false" flipV="false">
            <a:off x="1143014" y="5073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BD5E1">
                <a:alpha val="6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1143000" y="5270500"/>
            <a:ext cx="2794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基于大语言模型，实现自然流畅的人机对话，精准理解用户意图，提供即时、专业的答疑解惑服务。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445000" y="3810000"/>
            <a:ext cx="3302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445000" y="3810000"/>
            <a:ext cx="330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4127500"/>
            <a:ext cx="609600" cy="609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5461000" y="41656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智能作文生成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5626" flipH="false" flipV="false">
            <a:off x="4699014" y="5073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BD5E1">
                <a:alpha val="6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4699000" y="5270500"/>
            <a:ext cx="2794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支持多题材、多学段的作文辅助创作，提供思路引导、素材推荐与润色优化，提升写作效率与质量。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001000" y="3810000"/>
            <a:ext cx="3302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001000" y="3810000"/>
            <a:ext cx="3302000" cy="508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55000" y="4127500"/>
            <a:ext cx="609600" cy="6096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9017000" y="41656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智能刷题自测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15626" flipH="false" flipV="false">
            <a:off x="8255014" y="5073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BD5E1">
                <a:alpha val="6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8255000" y="5270500"/>
            <a:ext cx="2794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内置海量题库资源，基于知识图谱智能推荐习题，自动批改并生成错题分析，实现针对性查漏补缺。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FF6FF">
                <a:alpha val="100000"/>
              </a:srgbClr>
            </a:gs>
            <a:gs pos="100000">
              <a:srgbClr val="DBEAF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0" y="-1270000"/>
            <a:ext cx="5080000" cy="508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5080000"/>
            <a:ext cx="3810000" cy="3810000"/>
          </a:xfrm>
          <a:prstGeom prst="ellipse">
            <a:avLst/>
          </a:prstGeom>
          <a:solidFill>
            <a:srgbClr val="2563EB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连续智能对话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778000"/>
            <a:ext cx="2857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1968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06500" y="1930400"/>
            <a:ext cx="203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精准关键词匹配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7629" flipH="false" flipV="false">
            <a:off x="698516" y="25336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563E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98500" y="2667000"/>
            <a:ext cx="2540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基于NLP核心算法构建的问答系统，能够快速捕捉用户输入的关键信息，精准理解用户意图并反馈答案。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556000" y="1778000"/>
            <a:ext cx="2857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746500" y="1968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254500" y="1930400"/>
            <a:ext cx="203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海量内置知识库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7629" flipH="false" flipV="false">
            <a:off x="3746516" y="25336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563E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3746500" y="2667000"/>
            <a:ext cx="2540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整合了文学、科学、生活常识及教育辅导等多领域知识，无需联网即可解答常见问题，知识储备丰富。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8000" y="3937000"/>
            <a:ext cx="2857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98500" y="41275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206500" y="4089400"/>
            <a:ext cx="203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上下文连续交互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7629" flipH="false" flipV="false">
            <a:off x="698516" y="46926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563E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98500" y="4826000"/>
            <a:ext cx="2540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具备记忆功能，能够理解对话上下文，支持多轮连续对话，拒绝“答非所问”，提供拟人化的流畅体验。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556000" y="3937000"/>
            <a:ext cx="2857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3746500" y="41275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4254500" y="4089400"/>
            <a:ext cx="203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记录自动云端保存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7629" flipH="false" flipV="false">
            <a:off x="3746516" y="46926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563E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3746500" y="4826000"/>
            <a:ext cx="2540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所有对话内容自动加密保存，用户可随时回溯历史记录，无论是学习资料还是灵感问答，都能轻松找回。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5389257" flipH="false" flipV="false">
            <a:off x="4826000" y="3803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E3A8A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26" id="26"/>
          <p:cNvPicPr>
            <a:picLocks noChangeAspect="true"/>
          </p:cNvPicPr>
          <p:nvPr/>
        </p:nvPicPr>
        <p:blipFill>
          <a:blip r:embed="rId10"/>
          <a:srcRect l="0" r="0" t="12500" b="12500"/>
          <a:stretch>
            <a:fillRect/>
          </a:stretch>
        </p:blipFill>
        <p:spPr>
          <a:xfrm rot="0" flipH="false" flipV="false">
            <a:off x="7239000" y="1905000"/>
            <a:ext cx="4064000" cy="3048000"/>
          </a:xfrm>
          <a:prstGeom prst="rect">
            <a:avLst/>
          </a:prstGeom>
          <a:noFill/>
          <a:ln w="508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2700000" dist="101600" blurRad="190500" algn="tl" rotWithShape="false">
              <a:srgbClr val="2563EB">
                <a:alpha val="15000"/>
              </a:srgbClr>
            </a:outerShdw>
          </a:effectLst>
        </p:spPr>
      </p:pic>
      <p:sp>
        <p:nvSpPr>
          <p:cNvPr name="AutoShape 27" id="27"/>
          <p:cNvSpPr/>
          <p:nvPr/>
        </p:nvSpPr>
        <p:spPr>
          <a:xfrm rot="0" flipH="false" flipV="false">
            <a:off x="7239000" y="5207000"/>
            <a:ext cx="4064000" cy="12065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366000" y="5334000"/>
            <a:ext cx="3810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📚 知识库趣味示例：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从“《静夜思》的作者是谁？”到“圆周率π的精确值”，再到“小学生作文写作技巧”，无论是知识问答还是学习辅导，都能轻松应对。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0" y="3810000"/>
            <a:ext cx="3810000" cy="3810000"/>
          </a:xfrm>
          <a:prstGeom prst="ellipse">
            <a:avLst/>
          </a:prstGeom>
          <a:solidFill>
            <a:srgbClr val="FBBF24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-635000"/>
            <a:ext cx="2540000" cy="254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444500"/>
            <a:ext cx="1143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自动生成小升初作文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06" flipH="false" flipV="false">
            <a:off x="508004" y="1263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E3A8A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508000" y="1778000"/>
            <a:ext cx="2984500" cy="1714500"/>
          </a:xfrm>
          <a:prstGeom prst="roundRect">
            <a:avLst>
              <a:gd name="adj" fmla="val 0"/>
            </a:avLst>
          </a:prstGeom>
          <a:solidFill>
            <a:srgbClr val="3B82F6">
              <a:alpha val="6000"/>
            </a:srgbClr>
          </a:solidFill>
          <a:ln cmpd="sng" cap="flat">
            <a:solidFill>
              <a:srgbClr val="1F67DD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1778000"/>
            <a:ext cx="50800" cy="1714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1968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206500" y="19304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模板式高效生成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98500" y="2540000"/>
            <a:ext cx="2603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内置海量优质作文模板，覆盖常见的小升初写作话题，一键调用即可生成符合要求的初稿框架。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683000" y="1778000"/>
            <a:ext cx="2984500" cy="17145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cmpd="sng" cap="flat">
            <a:solidFill>
              <a:srgbClr val="DC8A00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683000" y="1778000"/>
            <a:ext cx="50800" cy="17145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873500" y="1968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381500" y="19304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经典三段式结构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873500" y="2540000"/>
            <a:ext cx="2603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严格遵循“开头点题+中间叙事+结尾升华”的经典结构，帮助孩子掌握标准的考场作文范式。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08000" y="3810000"/>
            <a:ext cx="29845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cmpd="sng" cap="flat">
            <a:solidFill>
              <a:srgbClr val="00A06B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8000" y="3810000"/>
            <a:ext cx="508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98500" y="40005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206500" y="39624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千万级随机组合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98500" y="4572000"/>
            <a:ext cx="2603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系统自动从不同语料库中随机抽取内容进行拼接，确保每次生成的文章都独一无二，拒绝雷同。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683000" y="3810000"/>
            <a:ext cx="2984500" cy="1714500"/>
          </a:xfrm>
          <a:prstGeom prst="roundRect">
            <a:avLst>
              <a:gd name="adj" fmla="val 0"/>
            </a:avLst>
          </a:prstGeom>
          <a:solidFill>
            <a:srgbClr val="EC4899">
              <a:alpha val="8000"/>
            </a:srgbClr>
          </a:solidFill>
          <a:ln cmpd="sng" cap="flat">
            <a:solidFill>
              <a:srgbClr val="D32B7E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683000" y="3810000"/>
            <a:ext cx="50800" cy="1714500"/>
          </a:xfrm>
          <a:prstGeom prst="roundRect">
            <a:avLst>
              <a:gd name="adj" fmla="val 0"/>
            </a:avLst>
          </a:prstGeom>
          <a:solidFill>
            <a:srgbClr val="EC48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3873500" y="4000500"/>
            <a:ext cx="406400" cy="4064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4381500" y="39624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聚焦小升初记叙文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873500" y="4572000"/>
            <a:ext cx="2603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精准针对小升初阶段最常考的记叙文主题进行训练，涵盖写人、记事、写景等高频考点场景。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5389582" flipH="false" flipV="false">
            <a:off x="4889500" y="3867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27" id="27"/>
          <p:cNvPicPr>
            <a:picLocks noChangeAspect="true"/>
          </p:cNvPicPr>
          <p:nvPr/>
        </p:nvPicPr>
        <p:blipFill>
          <a:blip r:embed="rId10"/>
          <a:srcRect l="0" r="0" t="7142" b="7142"/>
          <a:stretch>
            <a:fillRect/>
          </a:stretch>
        </p:blipFill>
        <p:spPr>
          <a:xfrm rot="0" flipH="false" flipV="false">
            <a:off x="7366000" y="1778000"/>
            <a:ext cx="3556000" cy="3048000"/>
          </a:xfrm>
          <a:prstGeom prst="rect">
            <a:avLst/>
          </a:prstGeom>
          <a:noFill/>
          <a:ln w="12700" cmpd="sng" cap="flat">
            <a:solidFill>
              <a:srgbClr val="D1D5DB">
                <a:alpha val="50000"/>
              </a:srgbClr>
            </a:solidFill>
            <a:prstDash val="solid"/>
            <a:round/>
          </a:ln>
        </p:spPr>
      </p:pic>
      <p:sp>
        <p:nvSpPr>
          <p:cNvPr name="AutoShape 28" id="28"/>
          <p:cNvSpPr/>
          <p:nvPr/>
        </p:nvSpPr>
        <p:spPr>
          <a:xfrm rot="0" flipH="false" flipV="false">
            <a:off x="7366000" y="5080000"/>
            <a:ext cx="406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1E3A8A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493000" y="5207000"/>
            <a:ext cx="381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智能拼接生成原理</a:t>
            </a:r>
            <a:endParaRPr lang="en-US" sz="1100"/>
          </a:p>
        </p:txBody>
      </p:sp>
      <p:cxnSp>
        <p:nvCxnSpPr>
          <p:cNvPr name="Connector 30" id="30"/>
          <p:cNvCxnSpPr/>
          <p:nvPr/>
        </p:nvCxnSpPr>
        <p:spPr>
          <a:xfrm rot="-11854" flipH="false" flipV="false">
            <a:off x="7493011" y="5581650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E3A8A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1" id="31"/>
          <p:cNvSpPr/>
          <p:nvPr/>
        </p:nvSpPr>
        <p:spPr>
          <a:xfrm rot="0" flipH="false" flipV="false">
            <a:off x="7493000" y="5715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系统内置庞大的句库资源，智能从“开头库”、“中间库”、“结尾库”中各随机选取优质语句，算法自动衔接逻辑，瞬间生成完整的作文篇章。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0" y="-1270000"/>
            <a:ext cx="5080000" cy="508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44450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381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知识刷题自测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5240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 / 智能化功能引擎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7813" flipH="false" flipV="false">
            <a:off x="508007" y="20256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B82F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508000" y="22860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2413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016000" y="2387600"/>
            <a:ext cx="2095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海量内置题库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" y="2921000"/>
            <a:ext cx="2476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整合权威语文知识库，覆盖古诗鉴赏、文言文、现代文学等全维度考点，无需额外导入资源。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365500" y="22860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492500" y="2413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3873500" y="2387600"/>
            <a:ext cx="2095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随机动态组卷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492500" y="2921000"/>
            <a:ext cx="2476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智能打乱题目与选项顺序，拒绝机械记忆，模拟真实考试环境，有效检验知识掌握程度。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8000" y="39370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4064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016000" y="4038600"/>
            <a:ext cx="2095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实时自动判分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" y="4572000"/>
            <a:ext cx="2476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提交即刻出结果，系统自动比对标准答案，不仅给出分数，更附带详细的错误解析与知识点提示。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365500" y="39370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8B5CF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3492500" y="40640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3873500" y="4038600"/>
            <a:ext cx="2095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全维成绩追踪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492500" y="4572000"/>
            <a:ext cx="2476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自动归档历次测验数据，生成可视化学习曲线，记录错题轨迹，帮助用户精准定位薄弱环节。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08000" y="5715000"/>
            <a:ext cx="5588000" cy="762000"/>
          </a:xfrm>
          <a:prstGeom prst="roundRect">
            <a:avLst>
              <a:gd name="adj" fmla="val 0"/>
            </a:avLst>
          </a:prstGeom>
          <a:solidFill>
            <a:srgbClr val="1E3A8A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35000" y="5816600"/>
            <a:ext cx="533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专注语文常识积累，从基础的古诗作者匹配到深层的文学流派分析，构建系统化的自测闭环，让学习有迹可循。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5390177" flipH="false" flipV="false">
            <a:off x="4254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6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26" id="26"/>
          <p:cNvPicPr>
            <a:picLocks noChangeAspect="true"/>
          </p:cNvPicPr>
          <p:nvPr/>
        </p:nvPicPr>
        <p:blipFill>
          <a:blip r:embed="rId10"/>
          <a:srcRect l="0" r="0" t="5172" b="5172"/>
          <a:stretch>
            <a:fillRect/>
          </a:stretch>
        </p:blipFill>
        <p:spPr>
          <a:xfrm rot="0" flipH="false" flipV="false">
            <a:off x="6731000" y="2032000"/>
            <a:ext cx="3683000" cy="330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7" id="27"/>
          <p:cNvSpPr/>
          <p:nvPr/>
        </p:nvSpPr>
        <p:spPr>
          <a:xfrm rot="0" flipH="false" flipV="false">
            <a:off x="6731000" y="5588000"/>
            <a:ext cx="4953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沉浸式互动体验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通过趣味化的界面设计与即时反馈机制，将枯燥的知识背诵转化为生动的闯关游戏，有效提升用户的参与度与知识留存率，让学习自测不再枯燥。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254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技术特点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906" flipH="false" flipV="false">
            <a:off x="508004" y="1009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508000" y="1397000"/>
            <a:ext cx="5524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397000"/>
            <a:ext cx="76200" cy="2413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1651000"/>
            <a:ext cx="7620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77900" y="1803400"/>
            <a:ext cx="457200" cy="457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905000" y="1651000"/>
            <a:ext cx="393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纯标准库实现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1653" flipH="false" flipV="false">
            <a:off x="1905011" y="2216150"/>
            <a:ext cx="3746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1905000" y="2413000"/>
            <a:ext cx="3937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完全基于 Python 标准库开发，不依赖任何第三方扩展包。确保了环境部署的极简性与兼容性，无需复杂配置即可在任何支持 Python 的环境中运行。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397000"/>
            <a:ext cx="5524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397000"/>
            <a:ext cx="76200" cy="2413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540500" y="1651000"/>
            <a:ext cx="7620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92900" y="1803400"/>
            <a:ext cx="457200" cy="457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7620000" y="1651000"/>
            <a:ext cx="393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命令行交互 (CLI) 界面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1653" flipH="false" flipV="false">
            <a:off x="7620011" y="2216150"/>
            <a:ext cx="3746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7620000" y="2413000"/>
            <a:ext cx="3937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采用直观的菜单式导航设计，通过数字与字符指令进行操作。界面简洁高效，去除冗余视觉元素，让用户专注于功能本身，降低学习成本。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8000" y="4064000"/>
            <a:ext cx="5524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08000" y="4064000"/>
            <a:ext cx="76200" cy="2413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25500" y="4318000"/>
            <a:ext cx="762000" cy="762000"/>
          </a:xfrm>
          <a:prstGeom prst="roundRect">
            <a:avLst>
              <a:gd name="adj" fmla="val 0"/>
            </a:avLst>
          </a:prstGeom>
          <a:solidFill>
            <a:srgbClr val="F59E0B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77900" y="4470400"/>
            <a:ext cx="457200" cy="4572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1905000" y="4318000"/>
            <a:ext cx="393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高内聚低耦合的模块化架构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11653" flipH="false" flipV="false">
            <a:off x="1905011" y="4883150"/>
            <a:ext cx="3746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1905000" y="5080000"/>
            <a:ext cx="3937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将核心业务逻辑与主程序入口完全分离，功能模块独立封装。不仅提升了代码的可读性，更便于后续功能的迭代更新与维护扩展。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23000" y="4064000"/>
            <a:ext cx="5524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223000" y="4064000"/>
            <a:ext cx="76200" cy="24130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540500" y="4318000"/>
            <a:ext cx="762000" cy="762000"/>
          </a:xfrm>
          <a:prstGeom prst="roundRect">
            <a:avLst>
              <a:gd name="adj" fmla="val 0"/>
            </a:avLst>
          </a:prstGeom>
          <a:solidFill>
            <a:srgbClr val="8B5C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692900" y="4470400"/>
            <a:ext cx="457200" cy="4572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7620000" y="4318000"/>
            <a:ext cx="393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轻量级本地 TXT 文件存储</a:t>
            </a:r>
            <a:endParaRPr lang="en-US" sz="1100"/>
          </a:p>
        </p:txBody>
      </p:sp>
      <p:cxnSp>
        <p:nvCxnSpPr>
          <p:cNvPr name="Connector 31" id="31"/>
          <p:cNvCxnSpPr/>
          <p:nvPr/>
        </p:nvCxnSpPr>
        <p:spPr>
          <a:xfrm rot="-11653" flipH="false" flipV="false">
            <a:off x="7620011" y="4883150"/>
            <a:ext cx="3746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2" id="32"/>
          <p:cNvSpPr/>
          <p:nvPr/>
        </p:nvSpPr>
        <p:spPr>
          <a:xfrm rot="0" flipH="false" flipV="false">
            <a:off x="7620000" y="5080000"/>
            <a:ext cx="3937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采用纯文本格式进行数据持久化，无需数据库环境。确保了历史操作记录与成绩数据的安全性与可移植性，文件结构清晰，易于备份与查看。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50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项目亮点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06" flipH="false" flipV="false">
            <a:off x="508004" y="1390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508000" y="2032000"/>
            <a:ext cx="3556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032000"/>
            <a:ext cx="3556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2413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413000"/>
            <a:ext cx="2286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代码规范严谨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323" flipH="false" flipV="false">
            <a:off x="762013" y="329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762000" y="35560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项目采用清晰的目录结构，模块职责划分明确，严格遵循统一的命名规范与注释标准，极大提升了代码的可读性与维护性，为团队协作打下坚实基础。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18000" y="2032000"/>
            <a:ext cx="3556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18000" y="2032000"/>
            <a:ext cx="3556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24130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334000" y="2413000"/>
            <a:ext cx="2286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场景实用性强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4323" flipH="false" flipV="false">
            <a:off x="4572013" y="329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572000" y="35560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深度贴合小学生的认知特点与学习场景，功能设计拒绝花里胡哨，聚焦真实学习需求。无论是知识点讲解还是练习模式，都力求“接地气”，解决实际问题。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28000" y="2032000"/>
            <a:ext cx="3556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2032000"/>
            <a:ext cx="35560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413000"/>
            <a:ext cx="609600" cy="609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9144000" y="2413000"/>
            <a:ext cx="2286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架构易于扩展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4323" flipH="false" flipV="false">
            <a:off x="8382013" y="329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382000" y="35560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采用高内聚低耦合的模块化架构设计，预留了灵活的接口。无论是后续扩充学科知识库、增加互动题库，还是接入作文模板库，都能快速适配，降低迭代成本。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08000" y="5588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08000" y="558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非常适合编程初学者学习和参考！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0F9FF">
                <a:alpha val="100000"/>
              </a:srgbClr>
            </a:gs>
            <a:gs pos="100000">
              <a:srgbClr val="DBEAF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0" y="-1270000"/>
            <a:ext cx="5080000" cy="5080000"/>
          </a:xfrm>
          <a:prstGeom prst="ellipse">
            <a:avLst/>
          </a:prstGeom>
          <a:solidFill>
            <a:srgbClr val="3B82F6">
              <a:alpha val="5000"/>
            </a:srgbClr>
          </a:solidFill>
          <a:ln cmpd="sng" cap="flat">
            <a:solidFill>
              <a:srgbClr val="1F67DD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44450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 cmpd="sng" cap="flat">
            <a:solidFill>
              <a:srgbClr val="00A06B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未来可以怎么改进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397000"/>
            <a:ext cx="762000" cy="762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10B981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159000"/>
            <a:ext cx="2603500" cy="3556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2159000"/>
            <a:ext cx="26035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25400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968500" y="2540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0B981">
                    <a:alpha val="2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20834" flipH="false" flipV="false">
            <a:off x="762019" y="3422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60400" y="36830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扩充内容储备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60400" y="4445000"/>
            <a:ext cx="228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突破单一学科限制，持续沉淀多领域知识库，构建分层级、成体系的学科题库，为用户提供从基础夯实到高阶拓展的全维度知识支撑。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365500" y="2159000"/>
            <a:ext cx="2603500" cy="3556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mpd="sng" cap="flat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365500" y="2159000"/>
            <a:ext cx="26035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619500" y="25400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826000" y="2540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B82F6">
                    <a:alpha val="2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20834" flipH="false" flipV="false">
            <a:off x="3619519" y="3422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3517900" y="36830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升级核心算法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517900" y="4445000"/>
            <a:ext cx="228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引入先进的NLP深度学习模型，重构对话匹配逻辑，实现意图识别的精准化与响应生成的智能化，大幅提升交互的专业度与流畅体验。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2159000"/>
            <a:ext cx="2603500" cy="35560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w="12700" cmpd="sng" cap="flat">
            <a:solidFill>
              <a:srgbClr val="F59E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3000" y="2159000"/>
            <a:ext cx="26035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477000" y="2540000"/>
            <a:ext cx="609600" cy="6096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7683500" y="2540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59E0B">
                    <a:alpha val="2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20834" flipH="false" flipV="false">
            <a:off x="6477019" y="3422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59E0B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6375400" y="36830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丰富创作模板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75400" y="4445000"/>
            <a:ext cx="228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深耕写作场景，提炼海量优质句式与结构范式，覆盖记叙文、议论文等全体裁，为用户提供多样化的灵感参考，降低创作门槛。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080500" y="2159000"/>
            <a:ext cx="2603500" cy="3556000"/>
          </a:xfrm>
          <a:prstGeom prst="roundRect">
            <a:avLst>
              <a:gd name="adj" fmla="val 0"/>
            </a:avLst>
          </a:prstGeom>
          <a:solidFill>
            <a:srgbClr val="8B5CF6">
              <a:alpha val="8000"/>
            </a:srgbClr>
          </a:solidFill>
          <a:ln w="12700" cmpd="sng" cap="flat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080500" y="2159000"/>
            <a:ext cx="2603500" cy="762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334500" y="2540000"/>
            <a:ext cx="609600" cy="6096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10541000" y="2540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8B5CF6">
                    <a:alpha val="2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cxnSp>
        <p:nvCxnSpPr>
          <p:cNvPr name="Connector 31" id="31"/>
          <p:cNvCxnSpPr/>
          <p:nvPr/>
        </p:nvCxnSpPr>
        <p:spPr>
          <a:xfrm rot="-20834" flipH="false" flipV="false">
            <a:off x="9334519" y="3422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B5C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2" id="32"/>
          <p:cNvSpPr/>
          <p:nvPr/>
        </p:nvSpPr>
        <p:spPr>
          <a:xfrm rot="0" flipH="false" flipV="false">
            <a:off x="9232900" y="36830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D28D9"/>
                </a:solidFill>
                <a:latin typeface="Noto Sans SC"/>
                <a:ea typeface="Noto Sans SC"/>
                <a:cs typeface="Noto Sans SC"/>
                <a:sym typeface="Noto Sans SC"/>
              </a:rPr>
              <a:t>焕新图形界面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9232900" y="4445000"/>
            <a:ext cx="228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打造直观友好的GUI交互系统，重构视觉层级，优化操作路径，融入人性化设计理念，让界面更具亲和力，全面提升用户的操作体验。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508000" y="59690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mpd="sng" cap="flat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762000" y="6134100"/>
            <a:ext cx="304800" cy="304800"/>
          </a:xfrm>
          <a:prstGeom prst="rect">
            <a:avLst/>
          </a:prstGeom>
        </p:spPr>
      </p:pic>
      <p:sp>
        <p:nvSpPr>
          <p:cNvPr name="AutoShape 36" id="36"/>
          <p:cNvSpPr/>
          <p:nvPr/>
        </p:nvSpPr>
        <p:spPr>
          <a:xfrm rot="0" flipH="false" flipV="false">
            <a:off x="1270000" y="6096000"/>
            <a:ext cx="990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以内容为基石，以技术为驱动，以用户体验为核心，构建可持续进化的智能学习闭环。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7ED">
                <a:alpha val="100000"/>
              </a:srgbClr>
            </a:gs>
            <a:gs pos="100000">
              <a:srgbClr val="FFEDD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FED7AA">
              <a:alpha val="30000"/>
            </a:srgbClr>
          </a:solidFill>
          <a:ln cmpd="sng" cap="flat">
            <a:solidFill>
              <a:srgbClr val="E5B78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0" y="4445000"/>
            <a:ext cx="4445000" cy="4445000"/>
          </a:xfrm>
          <a:prstGeom prst="ellipse">
            <a:avLst/>
          </a:prstGeom>
          <a:solidFill>
            <a:srgbClr val="FDA4AF">
              <a:alpha val="20000"/>
            </a:srgbClr>
          </a:solidFill>
          <a:ln cmpd="sng" cap="flat">
            <a:solidFill>
              <a:srgbClr val="E47D89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2540000"/>
            <a:ext cx="1219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谢谢观看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17188" flipH="false" flipV="false">
            <a:off x="4826016" y="40576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A580C">
                <a:alpha val="3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0" y="4445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小学生AI学习助手项目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016000"/>
            <a:ext cx="812800" cy="812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617200" y="1016000"/>
            <a:ext cx="812800" cy="812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5207000"/>
            <a:ext cx="711200" cy="711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718800" y="5207000"/>
            <a:ext cx="711200" cy="711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0" y="5969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继续学习，不断进步！ ——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{"Label":"1","ContentProducer":"001191110102MACQD9K64010000","ProduceID":"7655587634177592522","ReservedCode1":"","ContentPropagator":"","PropagateID":"","ReservedCode2":""}</vt:lpwstr>
  </property>
</Properties>
</file>